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[0:00-0:30 HOOK] Let's be honest - everyone here already knows quantum can't beat tuned classical on real data today. So why are we here? Why not a Classical x Finance hackathon? People draw quantum as a curve crossing the classical line; on a problem like ours it bends the wrong way - more data, more expensive, no more accurate. That stuck place is our whole project: how close can quantum get, why was it losing, does the fix survive real hardware?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[0:30-0:52 TESTBED] IBM AML data - 5M payments, ~388k flagged account-weeks, almost all innocent. The bank already flags; what it lacks is permission to REMOVE work. Our trust layer clears only when sure an account is clean - never accuses, logs every call. Quantum does one job: how similar are two account-weeks?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[FLOOR] Before any score, one number. Of the 388,000 flagged windows, about 1% are actually suspicious - the real queue. The table we SCORE keeps all 4,084 suspicious and caps the innocent at 40,000, so it is 9.3% suspicious. A model ranking at random scores that prevalence: 0.093. That is the floor. Every number after this starts there.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[1:14-1:34 BENCHMARK] Fair fight first: tuned tree 0.19, quantum 0.12 (random 0.09; beats RBF 0.097, loses to the tree). We asked why - four encodings, circuit training, a hybrid; 93 windows moved, the score didn't. Stuck.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[1:34-2:06 BANDWIDTH] Found it: the bandwidth was wrong, the kernel blind. Shrink the angles to ~a tenth: 0.12 -&gt; 0.18, level with the tree (0.17). Error bars overlap = a TIE, not a win - say it plainly. We SWEPT to find it, then showed 1/sqrt(n*d) = 0.083 predicts the peak - so the next run needs no sweep. The innovation is the method: derive, don't guess.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[2:06-2:38 HARDWARE] A simulator tie is cheap. 3 real QPUs - Garnet, IBM, Q50 - sim, noise model, then chip. The ROBUST 6-qubit config held rock-solid: Garnet &amp; IBM reproduce the sim exactly (0.111-&gt;0.111), Q50 off one point, near-zero drift. That's the result we trust. Honest part: the aggressive TUNED kernel bounced 0.18 to 0.40 across runs - one IBM run even above the noiseless sim, impossible for real signal. Cause: the tuned model is near-degenerate, amplifying tiny noise into huge swings. Tuning buys sim score, costs on-device stability. The robust config is the one that runs.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[2:38-2:52 DEMO] All live: the ranked queue, the auto-clear, an audit line per decision, and the three-machine table. NARRATE if the auto-clear banner plays: that 27/425 at 6.3% is the demo's ILLUSTRATIVE 0.20 cutoff - the SAFE bar (&lt;=1% error) clears NOTHING. The sidebar '12-qubit' is the simulator model; hardware runs 6 qubits. Links on the slide: github.com/ELNAUL99/q-sieve and elnaul99.github.io/q-sieve.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[2:52-3:10 CLOSE] What we WON'T claim: it doesn't empty the queue (safe threshold clears 0), and the tree is faster (0.1s vs 18s) - say it before they ask. The honest map is the contribution: why it was stuck, the derived fix, 3 real machines. It tells a bank WHEN quantum is worth the bet - a timing call worth millions. Diagnose, derive, validate. Team Q-SIEVE. Thank you.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gif"/><Relationship Id="rId3" Type="http://schemas.openxmlformats.org/officeDocument/2006/relationships/notesSlide" Target="../notesSlides/notesSlide7.xml"/><Relationship Id="rId4" Type="http://schemas.openxmlformats.org/officeDocument/2006/relationships/hyperlink" Target="https://github.com/ELNAUL99/q-sieve" TargetMode="External"/><Relationship Id="rId5" Type="http://schemas.openxmlformats.org/officeDocument/2006/relationships/hyperlink" Target="https://elnaul99.github.io/q-sieve/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B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920240"/>
            <a:ext cx="105156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7200" b="1" i="0">
                <a:solidFill>
                  <a:srgbClr val="FFFFFF"/>
                </a:solidFill>
                <a:latin typeface="Segoe UI"/>
              </a:rPr>
              <a:t>Q-SIEVE</a:t>
            </a:r>
          </a:p>
          <a:p>
            <a:pPr algn="l">
              <a:spcAft>
                <a:spcPts val="800"/>
              </a:spcAft>
            </a:pPr>
            <a:r>
              <a:rPr sz="2200" b="0" i="0">
                <a:solidFill>
                  <a:srgbClr val="67E1C5"/>
                </a:solidFill>
                <a:latin typeface="Segoe UI"/>
              </a:rPr>
              <a:t>Confidence. With context.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840480"/>
            <a:ext cx="1060704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 i="0">
                <a:solidFill>
                  <a:srgbClr val="E6B74D"/>
                </a:solidFill>
                <a:latin typeface="Segoe UI"/>
              </a:rPr>
              <a:t>How close can a quantum kernel really get to classical —</a:t>
            </a:r>
          </a:p>
          <a:p>
            <a:pPr algn="l">
              <a:spcAft>
                <a:spcPts val="1200"/>
              </a:spcAft>
            </a:pPr>
            <a:r>
              <a:rPr sz="2700" b="1" i="0">
                <a:solidFill>
                  <a:srgbClr val="E6B74D"/>
                </a:solidFill>
                <a:latin typeface="Segoe UI"/>
              </a:rPr>
              <a:t>and does it survive on real hardware?</a:t>
            </a:r>
          </a:p>
          <a:p>
            <a:pPr algn="l">
              <a:spcAft>
                <a:spcPts val="800"/>
              </a:spcAft>
            </a:pPr>
            <a:r>
              <a:rPr sz="1900" b="0" i="0">
                <a:solidFill>
                  <a:srgbClr val="ADC5C7"/>
                </a:solidFill>
                <a:latin typeface="Segoe UI"/>
              </a:rPr>
              <a:t>An honest, hardware-validated study — on a real anti-money-laundering problem.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03504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 i="0">
                <a:solidFill>
                  <a:srgbClr val="ADC5C7"/>
                </a:solidFill>
                <a:latin typeface="Segoe UI"/>
              </a:rPr>
              <a:t>Team Q-SIEVE   ·   Quantum × Finance Hackathon, Hanken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B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475488"/>
            <a:ext cx="1280160" cy="63500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621792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 i="0">
                <a:solidFill>
                  <a:srgbClr val="FFFFFF"/>
                </a:solidFill>
                <a:latin typeface="Segoe UI"/>
              </a:rPr>
              <a:t>The uncomfortable truth — and our testbed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21040" y="457200"/>
            <a:ext cx="3200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</a:pPr>
            <a:r>
              <a:rPr sz="1200" b="1" i="0">
                <a:solidFill>
                  <a:srgbClr val="67E1C5"/>
                </a:solidFill>
                <a:latin typeface="Segoe UI"/>
              </a:rPr>
              <a:t>BUSINESS MODEL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08760"/>
            <a:ext cx="109728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300" b="1" i="0">
                <a:solidFill>
                  <a:srgbClr val="67E1C5"/>
                </a:solidFill>
                <a:latin typeface="Segoe UI"/>
              </a:rPr>
              <a:t>In 2026, on real-world data, a quantum kernel usually can't beat tuned classical.</a:t>
            </a:r>
          </a:p>
          <a:p>
            <a:pPr algn="l">
              <a:spcAft>
                <a:spcPts val="800"/>
              </a:spcAft>
            </a:pPr>
            <a:r>
              <a:rPr sz="1800" b="0" i="0">
                <a:solidFill>
                  <a:srgbClr val="ADC5C7"/>
                </a:solidFill>
                <a:latin typeface="Segoe UI"/>
              </a:rPr>
              <a:t>Most teams hide that. We built our project around understanding it — on a real financial problem.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3200400"/>
            <a:ext cx="3566160" cy="2468880"/>
          </a:xfrm>
          <a:prstGeom prst="rect">
            <a:avLst/>
          </a:prstGeom>
          <a:solidFill>
            <a:srgbClr val="173B42"/>
          </a:solidFill>
          <a:ln w="19050">
            <a:solidFill>
              <a:srgbClr val="E6B7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/>
          <a:lstStyle/>
          <a:p>
            <a:pPr algn="ctr">
              <a:spcAft>
                <a:spcPts val="1000"/>
              </a:spcAft>
            </a:pPr>
            <a:r>
              <a:rPr sz="1900" b="1" i="0">
                <a:solidFill>
                  <a:srgbClr val="E6B74D"/>
                </a:solidFill>
                <a:latin typeface="Segoe UI"/>
              </a:rPr>
              <a:t>Anti-money-laundering</a:t>
            </a:r>
          </a:p>
          <a:p>
            <a:pPr algn="ctr">
              <a:spcAft>
                <a:spcPts val="200"/>
              </a:spcAft>
            </a:pPr>
            <a:r>
              <a:rPr sz="1500" b="0" i="0">
                <a:solidFill>
                  <a:srgbClr val="FFFFFF"/>
                </a:solidFill>
                <a:latin typeface="Segoe UI"/>
              </a:rPr>
              <a:t>~388k flagged account-week windows.</a:t>
            </a:r>
          </a:p>
          <a:p>
            <a:pPr algn="ctr">
              <a:spcAft>
                <a:spcPts val="200"/>
              </a:spcAft>
            </a:pPr>
            <a:r>
              <a:rPr sz="1500" b="0" i="0">
                <a:solidFill>
                  <a:srgbClr val="FFFFFF"/>
                </a:solidFill>
                <a:latin typeface="Segoe UI"/>
              </a:rPr>
              <a:t>~99% innocent, cleared by hand.</a:t>
            </a:r>
          </a:p>
        </p:txBody>
      </p:sp>
      <p:sp>
        <p:nvSpPr>
          <p:cNvPr id="8" name="Rectangle 7"/>
          <p:cNvSpPr/>
          <p:nvPr/>
        </p:nvSpPr>
        <p:spPr>
          <a:xfrm>
            <a:off x="4434840" y="3200400"/>
            <a:ext cx="3566160" cy="2468880"/>
          </a:xfrm>
          <a:prstGeom prst="rect">
            <a:avLst/>
          </a:prstGeom>
          <a:solidFill>
            <a:srgbClr val="173B42"/>
          </a:solidFill>
          <a:ln w="19050">
            <a:solidFill>
              <a:srgbClr val="55D6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/>
          <a:lstStyle/>
          <a:p>
            <a:pPr algn="ctr">
              <a:spcAft>
                <a:spcPts val="1000"/>
              </a:spcAft>
            </a:pPr>
            <a:r>
              <a:rPr sz="1900" b="1" i="0">
                <a:solidFill>
                  <a:srgbClr val="55D6AA"/>
                </a:solidFill>
                <a:latin typeface="Segoe UI"/>
              </a:rPr>
              <a:t>The trust layer</a:t>
            </a:r>
          </a:p>
          <a:p>
            <a:pPr algn="ctr">
              <a:spcAft>
                <a:spcPts val="200"/>
              </a:spcAft>
            </a:pPr>
            <a:r>
              <a:rPr sz="1500" b="0" i="0">
                <a:solidFill>
                  <a:srgbClr val="FFFFFF"/>
                </a:solidFill>
                <a:latin typeface="Segoe UI"/>
              </a:rPr>
              <a:t>Q-SIEVE auto-clears the</a:t>
            </a:r>
          </a:p>
          <a:p>
            <a:pPr algn="ctr">
              <a:spcAft>
                <a:spcPts val="200"/>
              </a:spcAft>
            </a:pPr>
            <a:r>
              <a:rPr sz="1500" b="0" i="0">
                <a:solidFill>
                  <a:srgbClr val="FFFFFF"/>
                </a:solidFill>
                <a:latin typeface="Segoe UI"/>
              </a:rPr>
              <a:t>confidently-innocent. Never accuses.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0" y="3200400"/>
            <a:ext cx="3566160" cy="2468880"/>
          </a:xfrm>
          <a:prstGeom prst="rect">
            <a:avLst/>
          </a:prstGeom>
          <a:solidFill>
            <a:srgbClr val="173B42"/>
          </a:solidFill>
          <a:ln w="19050">
            <a:solidFill>
              <a:srgbClr val="2EC4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/>
          <a:lstStyle/>
          <a:p>
            <a:pPr algn="ctr">
              <a:spcAft>
                <a:spcPts val="1000"/>
              </a:spcAft>
            </a:pPr>
            <a:r>
              <a:rPr sz="1900" b="1" i="0">
                <a:solidFill>
                  <a:srgbClr val="2EC4B6"/>
                </a:solidFill>
                <a:latin typeface="Segoe UI"/>
              </a:rPr>
              <a:t>The quantum kernel</a:t>
            </a:r>
          </a:p>
          <a:p>
            <a:pPr algn="ctr">
              <a:spcAft>
                <a:spcPts val="200"/>
              </a:spcAft>
            </a:pPr>
            <a:r>
              <a:rPr sz="1500" b="0" i="0">
                <a:solidFill>
                  <a:srgbClr val="FFFFFF"/>
                </a:solidFill>
                <a:latin typeface="Segoe UI"/>
              </a:rPr>
              <a:t>At its core: “how similar are</a:t>
            </a:r>
          </a:p>
          <a:p>
            <a:pPr algn="ctr">
              <a:spcAft>
                <a:spcPts val="200"/>
              </a:spcAft>
            </a:pPr>
            <a:r>
              <a:rPr sz="1500" b="0" i="0">
                <a:solidFill>
                  <a:srgbClr val="FFFFFF"/>
                </a:solidFill>
                <a:latin typeface="Segoe UI"/>
              </a:rPr>
              <a:t>two accounts?” — that's our question.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943600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 i="0">
                <a:solidFill>
                  <a:srgbClr val="E6B74D"/>
                </a:solidFill>
                <a:latin typeface="Segoe UI"/>
              </a:rPr>
              <a:t>Scope, honestly: not solving money-laundering, not clearing the whole queue — just auto-clearing the confidently-innocent windows to give analysts their time back.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B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475488"/>
            <a:ext cx="1280160" cy="63500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621792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 i="0">
                <a:solidFill>
                  <a:srgbClr val="FFFFFF"/>
                </a:solidFill>
                <a:latin typeface="Segoe UI"/>
              </a:rPr>
              <a:t>Where every number starts: the 0.093 floor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21040" y="457200"/>
            <a:ext cx="3200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</a:pPr>
            <a:r>
              <a:rPr sz="1200" b="1" i="0">
                <a:solidFill>
                  <a:srgbClr val="67E1C5"/>
                </a:solidFill>
                <a:latin typeface="Segoe UI"/>
              </a:rPr>
              <a:t>METHODOLOGY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83080"/>
            <a:ext cx="1069848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800"/>
              </a:spcAft>
            </a:pPr>
            <a:r>
              <a:rPr sz="2300" b="0" i="0">
                <a:solidFill>
                  <a:srgbClr val="FFFFFF"/>
                </a:solidFill>
                <a:latin typeface="Segoe UI"/>
              </a:rPr>
              <a:t>•  388,000 flagged windows — about 1% are truly suspicious (the real queue).</a:t>
            </a:r>
          </a:p>
          <a:p>
            <a:pPr algn="l">
              <a:spcAft>
                <a:spcPts val="1800"/>
              </a:spcAft>
            </a:pPr>
            <a:r>
              <a:rPr sz="2300" b="0" i="0">
                <a:solidFill>
                  <a:srgbClr val="FFFFFF"/>
                </a:solidFill>
                <a:latin typeface="Segoe UI"/>
              </a:rPr>
              <a:t>•  The table we score keeps all 4,084 suspicious + 40,000 innocent → 9.3% suspicious.</a:t>
            </a:r>
          </a:p>
          <a:p>
            <a:pPr algn="l">
              <a:spcAft>
                <a:spcPts val="800"/>
              </a:spcAft>
            </a:pPr>
            <a:r>
              <a:rPr sz="2300" b="1" i="0">
                <a:solidFill>
                  <a:srgbClr val="67E1C5"/>
                </a:solidFill>
                <a:latin typeface="Segoe UI"/>
              </a:rPr>
              <a:t>•  A model ranking at random scores that share — PR-AUC = 0.093.</a:t>
            </a:r>
          </a:p>
        </p:txBody>
      </p:sp>
      <p:sp>
        <p:nvSpPr>
          <p:cNvPr id="7" name="Rectangle 6"/>
          <p:cNvSpPr/>
          <p:nvPr/>
        </p:nvSpPr>
        <p:spPr>
          <a:xfrm>
            <a:off x="3566160" y="4892040"/>
            <a:ext cx="5029200" cy="1371600"/>
          </a:xfrm>
          <a:prstGeom prst="rect">
            <a:avLst/>
          </a:prstGeom>
          <a:solidFill>
            <a:srgbClr val="173B42"/>
          </a:solidFill>
          <a:ln w="25400">
            <a:solidFill>
              <a:srgbClr val="E6B7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2600" b="1" i="0">
                <a:solidFill>
                  <a:srgbClr val="E6B74D"/>
                </a:solidFill>
                <a:latin typeface="Segoe UI"/>
              </a:rPr>
              <a:t>0.093 = the floor</a:t>
            </a:r>
          </a:p>
          <a:p>
            <a:pPr algn="ctr">
              <a:spcAft>
                <a:spcPts val="800"/>
              </a:spcAft>
            </a:pPr>
            <a:r>
              <a:rPr sz="1500" b="0" i="0">
                <a:solidFill>
                  <a:srgbClr val="FFFFFF"/>
                </a:solidFill>
                <a:latin typeface="Segoe UI"/>
              </a:rPr>
              <a:t>every number after this starts here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B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475488"/>
            <a:ext cx="1280160" cy="63500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621792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 i="0">
                <a:solidFill>
                  <a:srgbClr val="FFFFFF"/>
                </a:solidFill>
                <a:latin typeface="Segoe UI"/>
              </a:rPr>
              <a:t>We ran a fair fight — classical won. At first.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21040" y="457200"/>
            <a:ext cx="3200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</a:pPr>
            <a:r>
              <a:rPr sz="1200" b="1" i="0">
                <a:solidFill>
                  <a:srgbClr val="67E1C5"/>
                </a:solidFill>
                <a:latin typeface="Segoe UI"/>
              </a:rPr>
              <a:t>METHODOLOGY</a:t>
            </a:r>
          </a:p>
        </p:txBody>
      </p:sp>
      <p:pic>
        <p:nvPicPr>
          <p:cNvPr id="6" name="Picture 5" descr="01_bench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495124"/>
            <a:ext cx="7315200" cy="432495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0" y="1737360"/>
            <a:ext cx="3474720" cy="4206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1" i="0">
                <a:solidFill>
                  <a:srgbClr val="FFFFFF"/>
                </a:solidFill>
                <a:latin typeface="Segoe UI"/>
              </a:rPr>
              <a:t>Tuned classical vs quantum, identical data — both scored against that 0.093 floor.</a:t>
            </a:r>
          </a:p>
          <a:p>
            <a:pPr algn="l">
              <a:spcAft>
                <a:spcPts val="800"/>
              </a:spcAft>
            </a:pPr>
            <a:r>
              <a:rPr sz="1500" b="0" i="0">
                <a:solidFill>
                  <a:srgbClr val="ADC5C7"/>
                </a:solidFill>
                <a:latin typeface="Segoe UI"/>
              </a:rPr>
              <a:t>•  XGBoost 0.19, quantum 0.125 — both above the floor, so both are real signal.</a:t>
            </a:r>
          </a:p>
          <a:p>
            <a:pPr algn="l">
              <a:spcAft>
                <a:spcPts val="800"/>
              </a:spcAft>
            </a:pPr>
            <a:r>
              <a:rPr sz="1500" b="0" i="0">
                <a:solidFill>
                  <a:srgbClr val="ADC5C7"/>
                </a:solidFill>
                <a:latin typeface="Segoe UI"/>
              </a:rPr>
              <a:t>•  But the tree wins. We asked WHY: 4 encodings, 8 scalings, training, a hybrid.</a:t>
            </a:r>
          </a:p>
          <a:p>
            <a:pPr algn="l">
              <a:spcAft>
                <a:spcPts val="800"/>
              </a:spcAft>
            </a:pPr>
            <a:r>
              <a:rPr sz="1500" b="1" i="0">
                <a:solidFill>
                  <a:srgbClr val="E6B74D"/>
                </a:solidFill>
                <a:latin typeface="Segoe UI"/>
              </a:rPr>
              <a:t>•  All the same spot. Quantum looked stuck.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B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475488"/>
            <a:ext cx="1280160" cy="63500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621792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 i="0">
                <a:solidFill>
                  <a:srgbClr val="FFFFFF"/>
                </a:solidFill>
                <a:latin typeface="Segoe UI"/>
              </a:rPr>
              <a:t>The culprit: bandwidth — and we derived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21040" y="457200"/>
            <a:ext cx="3200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</a:pPr>
            <a:r>
              <a:rPr sz="1200" b="1" i="0">
                <a:solidFill>
                  <a:srgbClr val="67E1C5"/>
                </a:solidFill>
                <a:latin typeface="Segoe UI"/>
              </a:rPr>
              <a:t>INNOVATIVENESS</a:t>
            </a:r>
          </a:p>
        </p:txBody>
      </p:sp>
      <p:pic>
        <p:nvPicPr>
          <p:cNvPr id="6" name="Picture 5" descr="02_bandwid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34353"/>
            <a:ext cx="7498079" cy="404649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412480" y="1737360"/>
            <a:ext cx="3291840" cy="4206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1" i="0">
                <a:solidFill>
                  <a:srgbClr val="FFFFFF"/>
                </a:solidFill>
                <a:latin typeface="Segoe UI"/>
              </a:rPr>
              <a:t>Bandwidth = how far features rotate. At the full range every pair looks equally different — the kernel goes blind.</a:t>
            </a:r>
          </a:p>
          <a:p>
            <a:pPr algn="l">
              <a:spcAft>
                <a:spcPts val="800"/>
              </a:spcAft>
            </a:pPr>
            <a:r>
              <a:rPr sz="1500" b="1" i="0">
                <a:solidFill>
                  <a:srgbClr val="67E1C5"/>
                </a:solidFill>
                <a:latin typeface="Segoe UI"/>
              </a:rPr>
              <a:t>•  Shrink the angles → 0.125 → 0.18.</a:t>
            </a:r>
          </a:p>
          <a:p>
            <a:pPr algn="l">
              <a:spcAft>
                <a:spcPts val="800"/>
              </a:spcAft>
            </a:pPr>
            <a:r>
              <a:rPr sz="1500" b="0" i="0">
                <a:solidFill>
                  <a:srgbClr val="ADC5C7"/>
                </a:solidFill>
                <a:latin typeface="Segoe UI"/>
              </a:rPr>
              <a:t>•  A tie: 0.18 vs 0.17, within noise — not a win.</a:t>
            </a:r>
          </a:p>
          <a:p>
            <a:pPr algn="l">
              <a:spcAft>
                <a:spcPts val="800"/>
              </a:spcAft>
            </a:pPr>
            <a:r>
              <a:rPr sz="1500" b="0" i="0">
                <a:solidFill>
                  <a:srgbClr val="ADC5C7"/>
                </a:solidFill>
                <a:latin typeface="Segoe UI"/>
              </a:rPr>
              <a:t>•  We swept to find it — then derived it: c = 1/√(n·d) = 0.083 predicts the peak.</a:t>
            </a:r>
          </a:p>
          <a:p>
            <a:pPr algn="l">
              <a:spcAft>
                <a:spcPts val="800"/>
              </a:spcAft>
            </a:pPr>
            <a:r>
              <a:rPr sz="1500" b="1" i="0">
                <a:solidFill>
                  <a:srgbClr val="E6B74D"/>
                </a:solidFill>
                <a:latin typeface="Segoe UI"/>
              </a:rPr>
              <a:t>•  The innovation is the method: derive the setting, don't guess it.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B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475488"/>
            <a:ext cx="1280160" cy="63500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621792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2800" b="1" i="0">
                <a:solidFill>
                  <a:srgbClr val="FFFFFF"/>
                </a:solidFill>
                <a:latin typeface="Segoe UI"/>
              </a:rPr>
              <a:t>On three real quantum computers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21040" y="457200"/>
            <a:ext cx="3200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</a:pPr>
            <a:r>
              <a:rPr sz="1200" b="1" i="0">
                <a:solidFill>
                  <a:srgbClr val="67E1C5"/>
                </a:solidFill>
                <a:latin typeface="Segoe UI"/>
              </a:rPr>
              <a:t>METHODOLOGY · PROGRESS</a:t>
            </a:r>
          </a:p>
        </p:txBody>
      </p:sp>
      <p:pic>
        <p:nvPicPr>
          <p:cNvPr id="6" name="Picture 5" descr="06_hardware_reliabi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46280" y="1600200"/>
            <a:ext cx="8160398" cy="41148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594360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 i="0">
                <a:solidFill>
                  <a:srgbClr val="67E1C5"/>
                </a:solidFill>
                <a:latin typeface="Segoe UI"/>
              </a:rPr>
              <a:t>Disciplined sim → noise-model → real metal. Robust config: Garnet and IBM exact (0.111→0.111), Q50 off one point (0.100), near-zero drift. The tuned config runs — but its score is noise-dominated. A finding, honestly reported.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B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475488"/>
            <a:ext cx="1280160" cy="63500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621792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 i="0">
                <a:solidFill>
                  <a:srgbClr val="FFFFFF"/>
                </a:solidFill>
                <a:latin typeface="Segoe UI"/>
              </a:rPr>
              <a:t>A working trust layer — live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21040" y="457200"/>
            <a:ext cx="3200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</a:pPr>
            <a:r>
              <a:rPr sz="1200" b="1" i="0">
                <a:solidFill>
                  <a:srgbClr val="67E1C5"/>
                </a:solidFill>
                <a:latin typeface="Segoe UI"/>
              </a:rPr>
              <a:t>METHODOLOGY</a:t>
            </a:r>
          </a:p>
        </p:txBody>
      </p:sp>
      <p:pic>
        <p:nvPicPr>
          <p:cNvPr id="6" name="Picture 5" descr="qsieve_demo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62514" y="1400000"/>
            <a:ext cx="5466667" cy="4100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380000"/>
            <a:ext cx="109728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 i="0">
                <a:solidFill>
                  <a:srgbClr val="ADC5C7"/>
                </a:solidFill>
                <a:latin typeface="Segoe UI"/>
              </a:rPr>
              <a:t>Queue → auto-clear → benchmark → the 3-QPU panel → full audit trail. (Animates in slideshow.)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580000"/>
            <a:ext cx="10972800" cy="72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160"/>
              </a:spcAft>
            </a:pPr>
            <a:r>
              <a:rPr lang="en-US" sz="1600" b="1" dirty="0">
                <a:solidFill>
                  <a:srgbClr val="ADC5C7"/>
                </a:solidFill>
                <a:latin typeface="Segoe UI"/>
              </a:rPr>
              <a:t>Code   </a:t>
            </a:r>
            <a:r>
              <a:rPr lang="en-US" sz="1600" b="1" u="sng" dirty="0">
                <a:solidFill>
                  <a:srgbClr val="67E1C5"/>
                </a:solidFill>
                <a:latin typeface="Segoe UI"/>
                <a:hlinkClick r:id="rId4"/>
              </a:rPr>
              <a:t>github.com/ELNAUL99/q-sieve</a:t>
            </a:r>
          </a:p>
          <a:p>
            <a:pPr algn="l"/>
            <a:r>
              <a:rPr lang="en-US" sz="1600" b="1" dirty="0">
                <a:solidFill>
                  <a:srgbClr val="ADC5C7"/>
                </a:solidFill>
                <a:latin typeface="Segoe UI"/>
              </a:rPr>
              <a:t>Live demo   </a:t>
            </a:r>
            <a:r>
              <a:rPr lang="en-US" sz="1600" b="1" u="sng" dirty="0">
                <a:solidFill>
                  <a:srgbClr val="67E1C5"/>
                </a:solidFill>
                <a:latin typeface="Segoe UI"/>
                <a:hlinkClick r:id="rId5"/>
              </a:rPr>
              <a:t>elnaul99.github.io/q-sieve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B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463040"/>
            <a:ext cx="1060704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4000" b="1" i="0">
                <a:solidFill>
                  <a:srgbClr val="FFFFFF"/>
                </a:solidFill>
                <a:latin typeface="Segoe UI"/>
              </a:rPr>
              <a:t>The honesty is the achievement.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743200"/>
            <a:ext cx="1060704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200" b="0" i="0">
                <a:solidFill>
                  <a:srgbClr val="ADC5C7"/>
                </a:solidFill>
                <a:latin typeface="Segoe UI"/>
              </a:rPr>
              <a:t>We can't tell you quantum beats classical on money-laundering today —</a:t>
            </a:r>
          </a:p>
          <a:p>
            <a:pPr algn="l">
              <a:spcAft>
                <a:spcPts val="1200"/>
              </a:spcAft>
            </a:pPr>
            <a:r>
              <a:rPr sz="2000" b="0" i="0">
                <a:solidFill>
                  <a:srgbClr val="ADC5C7"/>
                </a:solidFill>
                <a:latin typeface="Segoe UI"/>
              </a:rPr>
              <a:t>and anyone who does is selling you something. Safe-clear is 0% today; the tree is faster.</a:t>
            </a:r>
          </a:p>
          <a:p>
            <a:pPr algn="l">
              <a:spcAft>
                <a:spcPts val="200"/>
              </a:spcAft>
            </a:pPr>
            <a:r>
              <a:rPr sz="2100" b="0" i="0">
                <a:solidFill>
                  <a:srgbClr val="FFFFFF"/>
                </a:solidFill>
                <a:latin typeface="Segoe UI"/>
              </a:rPr>
              <a:t>What we give you: an honest, hardware-validated map of exactly how close</a:t>
            </a:r>
          </a:p>
          <a:p>
            <a:pPr algn="l">
              <a:spcAft>
                <a:spcPts val="1200"/>
              </a:spcAft>
            </a:pPr>
            <a:r>
              <a:rPr sz="2100" b="0" i="0">
                <a:solidFill>
                  <a:srgbClr val="FFFFFF"/>
                </a:solidFill>
                <a:latin typeface="Segoe UI"/>
              </a:rPr>
              <a:t>it gets, why it was stuck, and how to fix it — analytically.</a:t>
            </a:r>
          </a:p>
          <a:p>
            <a:pPr algn="l">
              <a:spcAft>
                <a:spcPts val="1400"/>
              </a:spcAft>
            </a:pPr>
            <a:r>
              <a:rPr sz="1600" b="0" i="0">
                <a:solidFill>
                  <a:srgbClr val="E6B74D"/>
                </a:solidFill>
                <a:latin typeface="Segoe UI"/>
              </a:rPr>
              <a:t>It tells a bank WHEN quantum is worth investing in for compliance — a timing call worth millions.</a:t>
            </a:r>
          </a:p>
          <a:p>
            <a:pPr algn="l">
              <a:spcAft>
                <a:spcPts val="800"/>
              </a:spcAft>
            </a:pPr>
            <a:r>
              <a:rPr sz="2500" b="1" i="0">
                <a:solidFill>
                  <a:srgbClr val="67E1C5"/>
                </a:solidFill>
                <a:latin typeface="Segoe UI"/>
              </a:rPr>
              <a:t>Diagnose.  Derive.  Validate on real hardware.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85216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 i="0">
                <a:solidFill>
                  <a:srgbClr val="E6B74D"/>
                </a:solidFill>
                <a:latin typeface="Segoe UI"/>
              </a:rPr>
              <a:t>Team Q-SIEVE — thank you.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